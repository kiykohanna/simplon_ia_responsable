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5143500" cx="9144000"/>
  <p:notesSz cx="6858000" cy="9144000"/>
  <p:embeddedFontLst>
    <p:embeddedFont>
      <p:font typeface="Nunito"/>
      <p:regular r:id="rId11"/>
      <p:bold r:id="rId12"/>
      <p:italic r:id="rId13"/>
      <p:boldItalic r:id="rId1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Nunito-regular.fntdata"/><Relationship Id="rId10" Type="http://schemas.openxmlformats.org/officeDocument/2006/relationships/slide" Target="slides/slide5.xml"/><Relationship Id="rId13" Type="http://schemas.openxmlformats.org/officeDocument/2006/relationships/font" Target="fonts/Nunito-italic.fntdata"/><Relationship Id="rId12" Type="http://schemas.openxmlformats.org/officeDocument/2006/relationships/font" Target="fonts/Nunito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font" Target="fonts/Nunit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aa762e9d67_0_2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aa762e9d67_0_2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aa762e9d67_0_27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aa762e9d67_0_27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aa762e9d67_0_24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aa762e9d67_0_24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aa762e9d67_0_24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aa762e9d67_0_24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1188100" y="149100"/>
            <a:ext cx="7101900" cy="73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ru" sz="3700">
                <a:solidFill>
                  <a:srgbClr val="538DB2"/>
                </a:solidFill>
              </a:rPr>
              <a:t>IA Responsable</a:t>
            </a:r>
            <a:endParaRPr b="1" sz="6600">
              <a:solidFill>
                <a:srgbClr val="538DB2"/>
              </a:solidFill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915750" y="957650"/>
            <a:ext cx="7312500" cy="3408900"/>
          </a:xfrm>
          <a:prstGeom prst="rect">
            <a:avLst/>
          </a:prstGeom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b="1" lang="ru" sz="1892">
                <a:solidFill>
                  <a:srgbClr val="0C343D"/>
                </a:solidFill>
              </a:rPr>
              <a:t>Pourquoi ce sujet est critique :</a:t>
            </a:r>
            <a:endParaRPr b="1" sz="1892">
              <a:solidFill>
                <a:srgbClr val="0C343D"/>
              </a:solidFill>
            </a:endParaRPr>
          </a:p>
          <a:p>
            <a:pPr indent="-342900" lvl="0" marL="45720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rgbClr val="0C343D"/>
              </a:buClr>
              <a:buSzPts val="1800"/>
              <a:buFont typeface="Arial"/>
              <a:buChar char="●"/>
            </a:pPr>
            <a:r>
              <a:rPr lang="ru" sz="1800">
                <a:solidFill>
                  <a:srgbClr val="0C343D"/>
                </a:solidFill>
              </a:rPr>
              <a:t>L'IA impacte des décisions individuelles et collectives (emploi, accès aux services, santé, sécurité).</a:t>
            </a:r>
            <a:endParaRPr sz="1800">
              <a:solidFill>
                <a:srgbClr val="0C343D"/>
              </a:solidFill>
            </a:endParaRPr>
          </a:p>
          <a:p>
            <a:pPr indent="-342900" lvl="0" marL="457200" rtl="0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Clr>
                <a:srgbClr val="0C343D"/>
              </a:buClr>
              <a:buSzPts val="1800"/>
              <a:buFont typeface="Arial"/>
              <a:buChar char="●"/>
            </a:pPr>
            <a:r>
              <a:rPr lang="ru" sz="1800">
                <a:solidFill>
                  <a:srgbClr val="0C343D"/>
                </a:solidFill>
              </a:rPr>
              <a:t>Les législations nationales et internationales imposent désormais des obligations spécifiques pour protéger les droits des personnes (RGPD, AI Act, règles de protection des données).</a:t>
            </a:r>
            <a:endParaRPr sz="1800">
              <a:solidFill>
                <a:srgbClr val="0C343D"/>
              </a:solidFill>
            </a:endParaRPr>
          </a:p>
          <a:p>
            <a:pPr indent="-342900" lvl="0" marL="457200" rtl="0" algn="l">
              <a:lnSpc>
                <a:spcPct val="105000"/>
              </a:lnSpc>
              <a:spcBef>
                <a:spcPts val="1000"/>
              </a:spcBef>
              <a:spcAft>
                <a:spcPts val="700"/>
              </a:spcAft>
              <a:buClr>
                <a:srgbClr val="0C343D"/>
              </a:buClr>
              <a:buSzPts val="1800"/>
              <a:buFont typeface="Arial"/>
              <a:buChar char="●"/>
            </a:pPr>
            <a:r>
              <a:rPr lang="ru" sz="1800">
                <a:solidFill>
                  <a:srgbClr val="0C343D"/>
                </a:solidFill>
              </a:rPr>
              <a:t>Les autorités de contrôle (ex. CNIL) publient des recommandations pratiques pour intégrer la conformité dès la conception.</a:t>
            </a:r>
            <a:endParaRPr sz="1800">
              <a:solidFill>
                <a:srgbClr val="0C343D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1149500" y="111075"/>
            <a:ext cx="7030500" cy="56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2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ru" sz="2477">
                <a:solidFill>
                  <a:srgbClr val="538DB2"/>
                </a:solidFill>
              </a:rPr>
              <a:t>Définition de l'IA Responsable</a:t>
            </a:r>
            <a:endParaRPr b="1" sz="2477">
              <a:solidFill>
                <a:srgbClr val="538DB2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542850" y="2029575"/>
            <a:ext cx="3741900" cy="2545800"/>
          </a:xfrm>
          <a:prstGeom prst="rect">
            <a:avLst/>
          </a:prstGeom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ru" sz="1850">
                <a:solidFill>
                  <a:srgbClr val="0C343D"/>
                </a:solidFill>
                <a:latin typeface="Arial"/>
                <a:ea typeface="Arial"/>
                <a:cs typeface="Arial"/>
                <a:sym typeface="Arial"/>
              </a:rPr>
              <a:t>Principes fondamentaux</a:t>
            </a:r>
            <a:endParaRPr b="1" sz="1850">
              <a:solidFill>
                <a:srgbClr val="0C343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3375" lvl="0" marL="457200" rtl="0" algn="l">
              <a:spcBef>
                <a:spcPts val="1200"/>
              </a:spcBef>
              <a:spcAft>
                <a:spcPts val="0"/>
              </a:spcAft>
              <a:buClr>
                <a:srgbClr val="0C343D"/>
              </a:buClr>
              <a:buSzPts val="1650"/>
              <a:buFont typeface="Arial"/>
              <a:buChar char="●"/>
            </a:pPr>
            <a:r>
              <a:rPr lang="ru" sz="1650">
                <a:solidFill>
                  <a:srgbClr val="0C343D"/>
                </a:solidFill>
                <a:latin typeface="Arial"/>
                <a:ea typeface="Arial"/>
                <a:cs typeface="Arial"/>
                <a:sym typeface="Arial"/>
              </a:rPr>
              <a:t>Transparence</a:t>
            </a:r>
            <a:endParaRPr sz="1650">
              <a:solidFill>
                <a:srgbClr val="0C343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3375" lvl="0" marL="457200" rtl="0" algn="l"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1650"/>
              <a:buFont typeface="Arial"/>
              <a:buChar char="●"/>
            </a:pPr>
            <a:r>
              <a:rPr lang="ru" sz="1650">
                <a:solidFill>
                  <a:srgbClr val="0C343D"/>
                </a:solidFill>
                <a:latin typeface="Arial"/>
                <a:ea typeface="Arial"/>
                <a:cs typeface="Arial"/>
                <a:sym typeface="Arial"/>
              </a:rPr>
              <a:t>Sécurité et robustess</a:t>
            </a:r>
            <a:r>
              <a:rPr lang="ru" sz="1650">
                <a:solidFill>
                  <a:srgbClr val="0C343D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endParaRPr sz="1650">
              <a:solidFill>
                <a:srgbClr val="0C343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3375" lvl="0" marL="457200" rtl="0" algn="l"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1650"/>
              <a:buFont typeface="Arial"/>
              <a:buChar char="●"/>
            </a:pPr>
            <a:r>
              <a:rPr lang="ru" sz="1650">
                <a:solidFill>
                  <a:srgbClr val="0C343D"/>
                </a:solidFill>
                <a:latin typeface="Arial"/>
                <a:ea typeface="Arial"/>
                <a:cs typeface="Arial"/>
                <a:sym typeface="Arial"/>
              </a:rPr>
              <a:t>Équité et non-discrimination</a:t>
            </a:r>
            <a:endParaRPr sz="1650">
              <a:solidFill>
                <a:srgbClr val="0C343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3375" lvl="0" marL="457200" rtl="0" algn="l"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1650"/>
              <a:buFont typeface="Arial"/>
              <a:buChar char="●"/>
            </a:pPr>
            <a:r>
              <a:rPr lang="ru" sz="1650">
                <a:solidFill>
                  <a:srgbClr val="0C343D"/>
                </a:solidFill>
                <a:latin typeface="Arial"/>
                <a:ea typeface="Arial"/>
                <a:cs typeface="Arial"/>
                <a:sym typeface="Arial"/>
              </a:rPr>
              <a:t>Protection des données et vie privée</a:t>
            </a:r>
            <a:endParaRPr sz="1650">
              <a:solidFill>
                <a:srgbClr val="0C343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3375" lvl="0" marL="457200" rtl="0" algn="l"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1650"/>
              <a:buFont typeface="Arial"/>
              <a:buChar char="●"/>
            </a:pPr>
            <a:r>
              <a:rPr lang="ru" sz="1650">
                <a:solidFill>
                  <a:srgbClr val="0C343D"/>
                </a:solidFill>
                <a:latin typeface="Arial"/>
                <a:ea typeface="Arial"/>
                <a:cs typeface="Arial"/>
                <a:sym typeface="Arial"/>
              </a:rPr>
              <a:t>Responsabilité et gouvernance</a:t>
            </a:r>
            <a:endParaRPr sz="1900">
              <a:solidFill>
                <a:srgbClr val="0C343D"/>
              </a:solidFill>
            </a:endParaRPr>
          </a:p>
        </p:txBody>
      </p:sp>
      <p:sp>
        <p:nvSpPr>
          <p:cNvPr id="62" name="Google Shape;62;p14"/>
          <p:cNvSpPr txBox="1"/>
          <p:nvPr/>
        </p:nvSpPr>
        <p:spPr>
          <a:xfrm>
            <a:off x="539825" y="677175"/>
            <a:ext cx="7616400" cy="922500"/>
          </a:xfrm>
          <a:prstGeom prst="rect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rgbClr val="0C343D"/>
                </a:solidFill>
              </a:rPr>
              <a:t>Approche de conception, de développement et d'exploitation des systèmes d'IA qui vise à garantir la sécurité, l'équité, la transparence, la protection des données et la responsabilité des acteurs.</a:t>
            </a:r>
            <a:endParaRPr sz="1800">
              <a:solidFill>
                <a:srgbClr val="0C343D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63" name="Google Shape;63;p14"/>
          <p:cNvSpPr txBox="1"/>
          <p:nvPr/>
        </p:nvSpPr>
        <p:spPr>
          <a:xfrm>
            <a:off x="4466700" y="2029575"/>
            <a:ext cx="3981600" cy="2545800"/>
          </a:xfrm>
          <a:prstGeom prst="rect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ru" sz="1850">
                <a:solidFill>
                  <a:srgbClr val="0C343D"/>
                </a:solidFill>
              </a:rPr>
              <a:t>Exigences réglementaires clés</a:t>
            </a:r>
            <a:endParaRPr b="1" sz="1850">
              <a:solidFill>
                <a:srgbClr val="0C343D"/>
              </a:solidFill>
            </a:endParaRPr>
          </a:p>
          <a:p>
            <a:pPr indent="-320675" lvl="0" marL="457200" rtl="0" algn="l">
              <a:lnSpc>
                <a:spcPct val="125000"/>
              </a:lnSpc>
              <a:spcBef>
                <a:spcPts val="1800"/>
              </a:spcBef>
              <a:spcAft>
                <a:spcPts val="0"/>
              </a:spcAft>
              <a:buClr>
                <a:srgbClr val="0C343D"/>
              </a:buClr>
              <a:buSzPts val="1450"/>
              <a:buChar char="●"/>
            </a:pPr>
            <a:r>
              <a:rPr b="1" lang="ru" sz="1450">
                <a:solidFill>
                  <a:srgbClr val="0C343D"/>
                </a:solidFill>
              </a:rPr>
              <a:t>RGPD</a:t>
            </a:r>
            <a:r>
              <a:rPr lang="ru" sz="1450">
                <a:solidFill>
                  <a:srgbClr val="0C343D"/>
                </a:solidFill>
              </a:rPr>
              <a:t> (UE) : protection des données personnelles</a:t>
            </a:r>
            <a:endParaRPr sz="1450">
              <a:solidFill>
                <a:srgbClr val="0C343D"/>
              </a:solidFill>
            </a:endParaRPr>
          </a:p>
          <a:p>
            <a:pPr indent="-320675" lvl="0" marL="4572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1450"/>
              <a:buChar char="●"/>
            </a:pPr>
            <a:r>
              <a:rPr b="1" lang="ru" sz="1450">
                <a:solidFill>
                  <a:srgbClr val="0C343D"/>
                </a:solidFill>
              </a:rPr>
              <a:t>AI Act</a:t>
            </a:r>
            <a:r>
              <a:rPr lang="ru" sz="1450">
                <a:solidFill>
                  <a:srgbClr val="0C343D"/>
                </a:solidFill>
              </a:rPr>
              <a:t> (UE) : cadre fondé sur une classification par risque</a:t>
            </a:r>
            <a:endParaRPr sz="1450">
              <a:solidFill>
                <a:srgbClr val="0C343D"/>
              </a:solidFill>
            </a:endParaRPr>
          </a:p>
          <a:p>
            <a:pPr indent="-320675" lvl="0" marL="4572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1450"/>
              <a:buChar char="●"/>
            </a:pPr>
            <a:r>
              <a:rPr lang="ru" sz="1450">
                <a:solidFill>
                  <a:srgbClr val="0C343D"/>
                </a:solidFill>
              </a:rPr>
              <a:t>Guides et recommandations </a:t>
            </a:r>
            <a:r>
              <a:rPr b="1" lang="ru" sz="1450">
                <a:solidFill>
                  <a:srgbClr val="0C343D"/>
                </a:solidFill>
              </a:rPr>
              <a:t>(OCDE, UNESCO, CNIL)</a:t>
            </a:r>
            <a:r>
              <a:rPr lang="ru" sz="1450">
                <a:solidFill>
                  <a:srgbClr val="0C343D"/>
                </a:solidFill>
              </a:rPr>
              <a:t> : principes éthiques et recommandations pratiques </a:t>
            </a:r>
            <a:endParaRPr sz="1450">
              <a:solidFill>
                <a:srgbClr val="0C343D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title"/>
          </p:nvPr>
        </p:nvSpPr>
        <p:spPr>
          <a:xfrm>
            <a:off x="311700" y="10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2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ru" sz="2650">
                <a:solidFill>
                  <a:srgbClr val="538DB2"/>
                </a:solidFill>
              </a:rPr>
              <a:t>Risques typiques à évaluer pour un projet IA</a:t>
            </a:r>
            <a:endParaRPr b="1" sz="2650">
              <a:solidFill>
                <a:srgbClr val="538DB2"/>
              </a:solidFill>
            </a:endParaRPr>
          </a:p>
          <a:p>
            <a:pPr indent="0" lvl="0" marL="0" rtl="0" algn="l">
              <a:lnSpc>
                <a:spcPct val="12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ct val="64705"/>
              <a:buFont typeface="Arial"/>
              <a:buNone/>
            </a:pPr>
            <a:r>
              <a:t/>
            </a:r>
            <a:endParaRPr b="1" sz="17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15"/>
          <p:cNvSpPr txBox="1"/>
          <p:nvPr>
            <p:ph idx="1" type="body"/>
          </p:nvPr>
        </p:nvSpPr>
        <p:spPr>
          <a:xfrm>
            <a:off x="3100" y="582925"/>
            <a:ext cx="9141000" cy="1385700"/>
          </a:xfrm>
          <a:prstGeom prst="rect">
            <a:avLst/>
          </a:prstGeom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1400"/>
              <a:buChar char="●"/>
            </a:pPr>
            <a:r>
              <a:rPr b="1" lang="ru" sz="1400">
                <a:solidFill>
                  <a:srgbClr val="0C343D"/>
                </a:solidFill>
              </a:rPr>
              <a:t>Atteinte à la vie privée</a:t>
            </a:r>
            <a:r>
              <a:rPr lang="ru" sz="1400">
                <a:solidFill>
                  <a:srgbClr val="0C343D"/>
                </a:solidFill>
              </a:rPr>
              <a:t> — collecte ou ré-identification de données sensibles.</a:t>
            </a:r>
            <a:endParaRPr sz="1400">
              <a:solidFill>
                <a:srgbClr val="0C343D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1400"/>
              <a:buChar char="●"/>
            </a:pPr>
            <a:r>
              <a:rPr b="1" lang="ru" sz="1400">
                <a:solidFill>
                  <a:srgbClr val="0C343D"/>
                </a:solidFill>
              </a:rPr>
              <a:t>Biais discriminatoires </a:t>
            </a:r>
            <a:r>
              <a:rPr lang="ru" sz="1400">
                <a:solidFill>
                  <a:srgbClr val="0C343D"/>
                </a:solidFill>
              </a:rPr>
              <a:t>— performances inégales selon le groupe démographique.</a:t>
            </a:r>
            <a:endParaRPr sz="1400">
              <a:solidFill>
                <a:srgbClr val="0C343D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1400"/>
              <a:buChar char="●"/>
            </a:pPr>
            <a:r>
              <a:rPr b="1" lang="ru" sz="1400">
                <a:solidFill>
                  <a:srgbClr val="0C343D"/>
                </a:solidFill>
              </a:rPr>
              <a:t>Opacité algorithmique</a:t>
            </a:r>
            <a:r>
              <a:rPr lang="ru" sz="1400">
                <a:solidFill>
                  <a:srgbClr val="0C343D"/>
                </a:solidFill>
              </a:rPr>
              <a:t> — impossibilité d'expliquer une décision critique (ex : refus d'accès à un service).</a:t>
            </a:r>
            <a:endParaRPr sz="1400">
              <a:solidFill>
                <a:srgbClr val="0C343D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1400"/>
              <a:buChar char="●"/>
            </a:pPr>
            <a:r>
              <a:rPr b="1" lang="ru" sz="1400">
                <a:solidFill>
                  <a:srgbClr val="0C343D"/>
                </a:solidFill>
              </a:rPr>
              <a:t>Sécurité et stabilité</a:t>
            </a:r>
            <a:r>
              <a:rPr lang="ru" sz="1400">
                <a:solidFill>
                  <a:srgbClr val="0C343D"/>
                </a:solidFill>
              </a:rPr>
              <a:t> — vulnérabilités exploitables (attaques adverses, modèle drift non détecté).</a:t>
            </a:r>
            <a:endParaRPr sz="1400">
              <a:solidFill>
                <a:srgbClr val="0C343D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1400"/>
              <a:buChar char="●"/>
            </a:pPr>
            <a:r>
              <a:rPr b="1" lang="ru" sz="1400">
                <a:solidFill>
                  <a:srgbClr val="0C343D"/>
                </a:solidFill>
              </a:rPr>
              <a:t>Conformité réglementaire</a:t>
            </a:r>
            <a:r>
              <a:rPr lang="ru" sz="1400">
                <a:solidFill>
                  <a:srgbClr val="0C343D"/>
                </a:solidFill>
              </a:rPr>
              <a:t> — non-respect d'exigences légales conduisant à sanctions ou interdictions.</a:t>
            </a:r>
            <a:endParaRPr sz="1400">
              <a:solidFill>
                <a:srgbClr val="0C343D"/>
              </a:solidFill>
            </a:endParaRPr>
          </a:p>
        </p:txBody>
      </p:sp>
      <p:sp>
        <p:nvSpPr>
          <p:cNvPr id="70" name="Google Shape;70;p15"/>
          <p:cNvSpPr txBox="1"/>
          <p:nvPr/>
        </p:nvSpPr>
        <p:spPr>
          <a:xfrm>
            <a:off x="3100" y="1968625"/>
            <a:ext cx="8824500" cy="2898600"/>
          </a:xfrm>
          <a:prstGeom prst="rect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800">
                <a:solidFill>
                  <a:srgbClr val="538DB2"/>
                </a:solidFill>
              </a:rPr>
              <a:t>Incidents récents illustrant les risques de l’IA</a:t>
            </a:r>
            <a:endParaRPr b="1" sz="1800">
              <a:solidFill>
                <a:srgbClr val="538DB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538DB2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1400"/>
              <a:buChar char="●"/>
            </a:pPr>
            <a:r>
              <a:rPr lang="ru">
                <a:solidFill>
                  <a:srgbClr val="0C343D"/>
                </a:solidFill>
              </a:rPr>
              <a:t>«DeepSeek — fuite d’environ 1 million de chats et métadonnées après mauvaise configuration du cloud.</a:t>
            </a:r>
            <a:r>
              <a:rPr lang="ru">
                <a:solidFill>
                  <a:srgbClr val="0C343D"/>
                </a:solidFill>
              </a:rPr>
              <a:t>»</a:t>
            </a:r>
            <a:endParaRPr>
              <a:solidFill>
                <a:srgbClr val="0C343D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1400"/>
              <a:buChar char="●"/>
            </a:pPr>
            <a:r>
              <a:rPr lang="ru">
                <a:solidFill>
                  <a:srgbClr val="0C343D"/>
                </a:solidFill>
              </a:rPr>
              <a:t>«2025 — le recours massif à l’IA générative en entreprise devient principal canal de fuite de données sensibles.»</a:t>
            </a:r>
            <a:endParaRPr>
              <a:solidFill>
                <a:srgbClr val="0C343D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1400"/>
              <a:buChar char="●"/>
            </a:pPr>
            <a:r>
              <a:rPr lang="ru">
                <a:solidFill>
                  <a:srgbClr val="0C343D"/>
                </a:solidFill>
              </a:rPr>
              <a:t>«Vulnérabilité XSS découverte dans un chatbot d’entreprise (2025) : possible exécution de code, vol de sessions, compromission du système.</a:t>
            </a:r>
            <a:r>
              <a:rPr lang="ru">
                <a:solidFill>
                  <a:srgbClr val="0C343D"/>
                </a:solidFill>
              </a:rPr>
              <a:t>»</a:t>
            </a:r>
            <a:endParaRPr>
              <a:solidFill>
                <a:srgbClr val="0C343D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1400"/>
              <a:buChar char="●"/>
            </a:pPr>
            <a:r>
              <a:rPr lang="ru">
                <a:solidFill>
                  <a:srgbClr val="0C343D"/>
                </a:solidFill>
              </a:rPr>
              <a:t>«UK Welfare AI (2024) — discrimination statistiquement significative selon âge, handicap, nationalité dans le traitement des demandes d’aide sociale.»</a:t>
            </a:r>
            <a:endParaRPr>
              <a:solidFill>
                <a:srgbClr val="0C343D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1400"/>
              <a:buChar char="●"/>
            </a:pPr>
            <a:r>
              <a:rPr lang="ru">
                <a:solidFill>
                  <a:srgbClr val="0C343D"/>
                </a:solidFill>
              </a:rPr>
              <a:t>«2025 — étude santé : “data poisoning” permet d’altérer des systèmes critiques, sans détection pendant 6–12 mois.»</a:t>
            </a:r>
            <a:endParaRPr>
              <a:solidFill>
                <a:srgbClr val="0C343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C343D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>
            <p:ph type="title"/>
          </p:nvPr>
        </p:nvSpPr>
        <p:spPr>
          <a:xfrm>
            <a:off x="311700" y="2737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b="1" lang="ru" sz="2400">
                <a:solidFill>
                  <a:srgbClr val="538DB2"/>
                </a:solidFill>
              </a:rPr>
              <a:t>Bonnes pratiques pour l’IA Responsable</a:t>
            </a:r>
            <a:endParaRPr b="1" sz="2400">
              <a:solidFill>
                <a:srgbClr val="538DB2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2520"/>
          </a:p>
        </p:txBody>
      </p:sp>
      <p:sp>
        <p:nvSpPr>
          <p:cNvPr id="76" name="Google Shape;76;p16"/>
          <p:cNvSpPr txBox="1"/>
          <p:nvPr>
            <p:ph idx="1" type="body"/>
          </p:nvPr>
        </p:nvSpPr>
        <p:spPr>
          <a:xfrm>
            <a:off x="311700" y="846450"/>
            <a:ext cx="8520600" cy="3638700"/>
          </a:xfrm>
          <a:prstGeom prst="rect">
            <a:avLst/>
          </a:prstGeom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1400"/>
              <a:buChar char="●"/>
            </a:pPr>
            <a:r>
              <a:rPr b="1" lang="ru" sz="1400">
                <a:solidFill>
                  <a:srgbClr val="0C343D"/>
                </a:solidFill>
              </a:rPr>
              <a:t>Transparence </a:t>
            </a:r>
            <a:r>
              <a:rPr lang="ru" sz="1400">
                <a:solidFill>
                  <a:srgbClr val="0C343D"/>
                </a:solidFill>
              </a:rPr>
              <a:t>: documenter clairement les modèles, les données utilisées et les décisions automatisées pour que les utilisateurs et parties prenantes comprennent le fonctionnement du système.</a:t>
            </a:r>
            <a:endParaRPr sz="1400">
              <a:solidFill>
                <a:srgbClr val="0C343D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1400"/>
              <a:buChar char="●"/>
            </a:pPr>
            <a:r>
              <a:rPr b="1" lang="ru" sz="1400">
                <a:solidFill>
                  <a:srgbClr val="0C343D"/>
                </a:solidFill>
              </a:rPr>
              <a:t>Équité et lutte contre les biais</a:t>
            </a:r>
            <a:r>
              <a:rPr lang="ru" sz="1400">
                <a:solidFill>
                  <a:srgbClr val="0C343D"/>
                </a:solidFill>
              </a:rPr>
              <a:t> : tester les modèles pour détecter et corriger les biais discriminatoires, garantir une prise de décision impartiale.</a:t>
            </a:r>
            <a:endParaRPr sz="1400">
              <a:solidFill>
                <a:srgbClr val="0C343D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1400"/>
              <a:buChar char="●"/>
            </a:pPr>
            <a:r>
              <a:rPr b="1" lang="ru" sz="1400">
                <a:solidFill>
                  <a:srgbClr val="0C343D"/>
                </a:solidFill>
              </a:rPr>
              <a:t>Protection des données personnelles </a:t>
            </a:r>
            <a:r>
              <a:rPr lang="ru" sz="1400">
                <a:solidFill>
                  <a:srgbClr val="0C343D"/>
                </a:solidFill>
              </a:rPr>
              <a:t>: respecter les principes du RGPD et les recommandations de la CNIL, anonymiser les données sensibles, sécuriser le stockage et les transferts.</a:t>
            </a:r>
            <a:endParaRPr sz="1400">
              <a:solidFill>
                <a:srgbClr val="0C343D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1400"/>
              <a:buChar char="●"/>
            </a:pPr>
            <a:r>
              <a:rPr b="1" lang="ru" sz="1400">
                <a:solidFill>
                  <a:srgbClr val="0C343D"/>
                </a:solidFill>
              </a:rPr>
              <a:t>Sécurité et robustesse</a:t>
            </a:r>
            <a:r>
              <a:rPr lang="ru" sz="1400">
                <a:solidFill>
                  <a:srgbClr val="0C343D"/>
                </a:solidFill>
              </a:rPr>
              <a:t> : anticiper les risques techniques, prévenir les usages malveillants, vérifier la fiabilité des algorithmes en conditions réelles.</a:t>
            </a:r>
            <a:endParaRPr sz="1400">
              <a:solidFill>
                <a:srgbClr val="0C343D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1400"/>
              <a:buChar char="●"/>
            </a:pPr>
            <a:r>
              <a:rPr b="1" lang="ru" sz="1400">
                <a:solidFill>
                  <a:srgbClr val="0C343D"/>
                </a:solidFill>
              </a:rPr>
              <a:t>Responsabilité et traçabilité </a:t>
            </a:r>
            <a:r>
              <a:rPr lang="ru" sz="1400">
                <a:solidFill>
                  <a:srgbClr val="0C343D"/>
                </a:solidFill>
              </a:rPr>
              <a:t>: identifier clairement les responsables de la conception et de l’exploitation de l’IA, conserver des journaux de décision et de fonctionnement pour audits évent</a:t>
            </a:r>
            <a:r>
              <a:rPr b="1" lang="ru" sz="1400">
                <a:solidFill>
                  <a:srgbClr val="0C343D"/>
                </a:solidFill>
              </a:rPr>
              <a:t>uels.</a:t>
            </a:r>
            <a:endParaRPr b="1" sz="1400">
              <a:solidFill>
                <a:srgbClr val="0C343D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1400"/>
              <a:buChar char="●"/>
            </a:pPr>
            <a:r>
              <a:rPr b="1" lang="ru" sz="1400">
                <a:solidFill>
                  <a:srgbClr val="0C343D"/>
                </a:solidFill>
              </a:rPr>
              <a:t>Impact social et environnemental :</a:t>
            </a:r>
            <a:r>
              <a:rPr lang="ru" sz="1400">
                <a:solidFill>
                  <a:srgbClr val="0C343D"/>
                </a:solidFill>
              </a:rPr>
              <a:t> évaluer l’impact de l’IA sur les utilisateurs, la société et l’environnement, privilégier des solutions écoresponsables et durables.</a:t>
            </a:r>
            <a:endParaRPr sz="14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/>
          <p:nvPr>
            <p:ph type="title"/>
          </p:nvPr>
        </p:nvSpPr>
        <p:spPr>
          <a:xfrm>
            <a:off x="1056750" y="150600"/>
            <a:ext cx="7030500" cy="5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1800"/>
              </a:spcBef>
              <a:spcAft>
                <a:spcPts val="1200"/>
              </a:spcAft>
              <a:buNone/>
            </a:pPr>
            <a:r>
              <a:rPr b="1" lang="ru" sz="2200">
                <a:solidFill>
                  <a:srgbClr val="538DB2"/>
                </a:solidFill>
              </a:rPr>
              <a:t> Sources de veille technologique</a:t>
            </a:r>
            <a:endParaRPr b="1" sz="3300">
              <a:solidFill>
                <a:srgbClr val="538DB2"/>
              </a:solidFill>
            </a:endParaRPr>
          </a:p>
        </p:txBody>
      </p:sp>
      <p:sp>
        <p:nvSpPr>
          <p:cNvPr id="82" name="Google Shape;82;p17"/>
          <p:cNvSpPr txBox="1"/>
          <p:nvPr>
            <p:ph idx="1" type="body"/>
          </p:nvPr>
        </p:nvSpPr>
        <p:spPr>
          <a:xfrm>
            <a:off x="775800" y="611325"/>
            <a:ext cx="7592400" cy="2042400"/>
          </a:xfrm>
          <a:prstGeom prst="rect">
            <a:avLst/>
          </a:prstGeom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ru">
                <a:solidFill>
                  <a:srgbClr val="0C343D"/>
                </a:solidFill>
              </a:rPr>
              <a:t>Articles &amp; rapports récents</a:t>
            </a:r>
            <a:endParaRPr b="1">
              <a:solidFill>
                <a:srgbClr val="0C343D"/>
              </a:solidFill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rgbClr val="0C343D"/>
              </a:buClr>
              <a:buSzPts val="1400"/>
              <a:buFont typeface="Arial"/>
              <a:buChar char="●"/>
            </a:pPr>
            <a:r>
              <a:rPr lang="ru" sz="1400">
                <a:solidFill>
                  <a:srgbClr val="0C343D"/>
                </a:solidFill>
                <a:latin typeface="Arial"/>
                <a:ea typeface="Arial"/>
                <a:cs typeface="Arial"/>
                <a:sym typeface="Arial"/>
              </a:rPr>
              <a:t>CNIL — "IA et RGPD : la CNIL publie ses nouvelles recommandations…” (février 2025): </a:t>
            </a:r>
            <a:endParaRPr sz="1400">
              <a:solidFill>
                <a:srgbClr val="0C343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1400"/>
              <a:buFont typeface="Arial"/>
              <a:buChar char="●"/>
            </a:pPr>
            <a:r>
              <a:rPr lang="ru" sz="1400">
                <a:solidFill>
                  <a:srgbClr val="0C343D"/>
                </a:solidFill>
                <a:latin typeface="Arial"/>
                <a:ea typeface="Arial"/>
                <a:cs typeface="Arial"/>
                <a:sym typeface="Arial"/>
              </a:rPr>
              <a:t>Collectif Impact IA / AdvanThink — “Construire une IA de confiance” (2025) </a:t>
            </a:r>
            <a:endParaRPr sz="1400">
              <a:solidFill>
                <a:srgbClr val="0C343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1400"/>
              <a:buFont typeface="Arial"/>
              <a:buChar char="●"/>
            </a:pPr>
            <a:r>
              <a:rPr lang="ru" sz="1400">
                <a:solidFill>
                  <a:srgbClr val="0C343D"/>
                </a:solidFill>
                <a:latin typeface="Arial"/>
                <a:ea typeface="Arial"/>
                <a:cs typeface="Arial"/>
                <a:sym typeface="Arial"/>
              </a:rPr>
              <a:t>European Commission — rapport “AI in Scientific Research” (2025)</a:t>
            </a:r>
            <a:endParaRPr sz="1400">
              <a:solidFill>
                <a:srgbClr val="0C343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1400"/>
              <a:buFont typeface="Arial"/>
              <a:buChar char="●"/>
            </a:pPr>
            <a:r>
              <a:rPr lang="ru" sz="1400">
                <a:solidFill>
                  <a:srgbClr val="0C343D"/>
                </a:solidFill>
                <a:latin typeface="Arial"/>
                <a:ea typeface="Arial"/>
                <a:cs typeface="Arial"/>
                <a:sym typeface="Arial"/>
              </a:rPr>
              <a:t>Article académique “Trust and Transparency in AI: Industry Voices on Data, Ethics, and Compliance” (2025) </a:t>
            </a:r>
            <a:endParaRPr b="1" sz="1400">
              <a:solidFill>
                <a:srgbClr val="0C343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17"/>
          <p:cNvSpPr txBox="1"/>
          <p:nvPr/>
        </p:nvSpPr>
        <p:spPr>
          <a:xfrm>
            <a:off x="775800" y="2877600"/>
            <a:ext cx="7592400" cy="1963200"/>
          </a:xfrm>
          <a:prstGeom prst="rect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ru" sz="1800">
                <a:solidFill>
                  <a:srgbClr val="0C343D"/>
                </a:solidFill>
              </a:rPr>
              <a:t> Guides, cadres &amp; réflexions stratégiques</a:t>
            </a:r>
            <a:endParaRPr b="1" sz="1800">
              <a:solidFill>
                <a:srgbClr val="0C343D"/>
              </a:solidFill>
            </a:endParaRPr>
          </a:p>
          <a:p>
            <a:pPr indent="-317500" lvl="0" marL="457200" rtl="0" algn="l">
              <a:lnSpc>
                <a:spcPct val="125000"/>
              </a:lnSpc>
              <a:spcBef>
                <a:spcPts val="1800"/>
              </a:spcBef>
              <a:spcAft>
                <a:spcPts val="0"/>
              </a:spcAft>
              <a:buClr>
                <a:srgbClr val="0C343D"/>
              </a:buClr>
              <a:buSzPts val="1400"/>
              <a:buChar char="●"/>
            </a:pPr>
            <a:r>
              <a:rPr lang="ru">
                <a:solidFill>
                  <a:srgbClr val="0C343D"/>
                </a:solidFill>
              </a:rPr>
              <a:t>OCDE — rapport “Gouverner avec l’intelligence artificielle” (2025)</a:t>
            </a:r>
            <a:endParaRPr b="1">
              <a:solidFill>
                <a:srgbClr val="0C343D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1400"/>
              <a:buChar char="●"/>
            </a:pPr>
            <a:r>
              <a:rPr lang="ru">
                <a:solidFill>
                  <a:srgbClr val="0C343D"/>
                </a:solidFill>
              </a:rPr>
              <a:t>AFG — “Guide professionnel : Utilisation responsable de l’IA” (janvier 2025)</a:t>
            </a:r>
            <a:endParaRPr>
              <a:solidFill>
                <a:srgbClr val="0C343D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1400"/>
              <a:buChar char="●"/>
            </a:pPr>
            <a:r>
              <a:rPr lang="ru">
                <a:solidFill>
                  <a:srgbClr val="0C343D"/>
                </a:solidFill>
              </a:rPr>
              <a:t>Conseil économique social et environnemental (CESE) — “Avis pour une intelligence artificielle au service de l’intérêt général” (2025) </a:t>
            </a:r>
            <a:endParaRPr>
              <a:solidFill>
                <a:srgbClr val="0C343D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